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6" d="100"/>
          <a:sy n="46" d="100"/>
        </p:scale>
        <p:origin x="1118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EAA457-ABF4-441E-A1A7-E8DEBAFC3F2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8B17CB-CAA0-47E9-809B-5A096D46BAB6}">
      <dgm:prSet/>
      <dgm:spPr/>
      <dgm:t>
        <a:bodyPr/>
        <a:lstStyle/>
        <a:p>
          <a:r>
            <a:rPr lang="en-US"/>
            <a:t>Source code security refers to protecting the integrity and confidentiality of software code stored in repositories such as GitHub or GitLab</a:t>
          </a:r>
        </a:p>
      </dgm:t>
    </dgm:pt>
    <dgm:pt modelId="{E673D412-82C5-400B-9059-5461BC16BAFF}" type="parTrans" cxnId="{94756D5A-8B8B-4E5B-B4FA-D9B77AFB2894}">
      <dgm:prSet/>
      <dgm:spPr/>
      <dgm:t>
        <a:bodyPr/>
        <a:lstStyle/>
        <a:p>
          <a:endParaRPr lang="en-US"/>
        </a:p>
      </dgm:t>
    </dgm:pt>
    <dgm:pt modelId="{63FAB09C-D241-4512-B67D-6D9F7FD94D74}" type="sibTrans" cxnId="{94756D5A-8B8B-4E5B-B4FA-D9B77AFB2894}">
      <dgm:prSet/>
      <dgm:spPr/>
      <dgm:t>
        <a:bodyPr/>
        <a:lstStyle/>
        <a:p>
          <a:endParaRPr lang="en-US"/>
        </a:p>
      </dgm:t>
    </dgm:pt>
    <dgm:pt modelId="{A7D6686A-EDB8-4A1D-B280-29A03FB68CC7}">
      <dgm:prSet/>
      <dgm:spPr/>
      <dgm:t>
        <a:bodyPr/>
        <a:lstStyle/>
        <a:p>
          <a:r>
            <a:rPr lang="en-US"/>
            <a:t>A critical part of software supply chain as security breaches can result in major financial damage</a:t>
          </a:r>
        </a:p>
      </dgm:t>
    </dgm:pt>
    <dgm:pt modelId="{5B135EB5-93B7-4365-8A85-9202AEF84BA7}" type="parTrans" cxnId="{CF8416B6-C786-4E50-8194-54F638BD1D0A}">
      <dgm:prSet/>
      <dgm:spPr/>
      <dgm:t>
        <a:bodyPr/>
        <a:lstStyle/>
        <a:p>
          <a:endParaRPr lang="en-US"/>
        </a:p>
      </dgm:t>
    </dgm:pt>
    <dgm:pt modelId="{DB93C5E8-BA11-46D0-B8DA-D6FB8B015526}" type="sibTrans" cxnId="{CF8416B6-C786-4E50-8194-54F638BD1D0A}">
      <dgm:prSet/>
      <dgm:spPr/>
      <dgm:t>
        <a:bodyPr/>
        <a:lstStyle/>
        <a:p>
          <a:endParaRPr lang="en-US"/>
        </a:p>
      </dgm:t>
    </dgm:pt>
    <dgm:pt modelId="{3FBDF705-393A-49D7-8C2C-625F6151885F}" type="pres">
      <dgm:prSet presAssocID="{5DEAA457-ABF4-441E-A1A7-E8DEBAFC3F22}" presName="root" presStyleCnt="0">
        <dgm:presLayoutVars>
          <dgm:dir/>
          <dgm:resizeHandles val="exact"/>
        </dgm:presLayoutVars>
      </dgm:prSet>
      <dgm:spPr/>
    </dgm:pt>
    <dgm:pt modelId="{3F1D565B-DBFD-4D77-B922-F85A1AA0578E}" type="pres">
      <dgm:prSet presAssocID="{DC8B17CB-CAA0-47E9-809B-5A096D46BAB6}" presName="compNode" presStyleCnt="0"/>
      <dgm:spPr/>
    </dgm:pt>
    <dgm:pt modelId="{FCC25867-3655-471A-9D01-51DA0518EAB5}" type="pres">
      <dgm:prSet presAssocID="{DC8B17CB-CAA0-47E9-809B-5A096D46BAB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EBED595-A008-43BD-B7CB-6E4231BFBC4D}" type="pres">
      <dgm:prSet presAssocID="{DC8B17CB-CAA0-47E9-809B-5A096D46BAB6}" presName="spaceRect" presStyleCnt="0"/>
      <dgm:spPr/>
    </dgm:pt>
    <dgm:pt modelId="{0F3683BD-5A93-4EBB-B0E2-EDC14724132B}" type="pres">
      <dgm:prSet presAssocID="{DC8B17CB-CAA0-47E9-809B-5A096D46BAB6}" presName="textRect" presStyleLbl="revTx" presStyleIdx="0" presStyleCnt="2">
        <dgm:presLayoutVars>
          <dgm:chMax val="1"/>
          <dgm:chPref val="1"/>
        </dgm:presLayoutVars>
      </dgm:prSet>
      <dgm:spPr/>
    </dgm:pt>
    <dgm:pt modelId="{6611AE83-E09A-4465-9831-9CF2A2335C78}" type="pres">
      <dgm:prSet presAssocID="{63FAB09C-D241-4512-B67D-6D9F7FD94D74}" presName="sibTrans" presStyleCnt="0"/>
      <dgm:spPr/>
    </dgm:pt>
    <dgm:pt modelId="{BB8EB469-EE80-44CA-8F49-EDBD10421D37}" type="pres">
      <dgm:prSet presAssocID="{A7D6686A-EDB8-4A1D-B280-29A03FB68CC7}" presName="compNode" presStyleCnt="0"/>
      <dgm:spPr/>
    </dgm:pt>
    <dgm:pt modelId="{DFFF4033-172F-434D-907F-1C80CF2C7F26}" type="pres">
      <dgm:prSet presAssocID="{A7D6686A-EDB8-4A1D-B280-29A03FB68CC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265B00E-C8AE-4B8F-8215-D76E9258A725}" type="pres">
      <dgm:prSet presAssocID="{A7D6686A-EDB8-4A1D-B280-29A03FB68CC7}" presName="spaceRect" presStyleCnt="0"/>
      <dgm:spPr/>
    </dgm:pt>
    <dgm:pt modelId="{CEED0A1D-02F3-4430-AD9C-ED455382551E}" type="pres">
      <dgm:prSet presAssocID="{A7D6686A-EDB8-4A1D-B280-29A03FB68CC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0E82F49-D86D-498E-A78A-BABA806945D2}" type="presOf" srcId="{5DEAA457-ABF4-441E-A1A7-E8DEBAFC3F22}" destId="{3FBDF705-393A-49D7-8C2C-625F6151885F}" srcOrd="0" destOrd="0" presId="urn:microsoft.com/office/officeart/2018/2/layout/IconLabelList"/>
    <dgm:cxn modelId="{94756D5A-8B8B-4E5B-B4FA-D9B77AFB2894}" srcId="{5DEAA457-ABF4-441E-A1A7-E8DEBAFC3F22}" destId="{DC8B17CB-CAA0-47E9-809B-5A096D46BAB6}" srcOrd="0" destOrd="0" parTransId="{E673D412-82C5-400B-9059-5461BC16BAFF}" sibTransId="{63FAB09C-D241-4512-B67D-6D9F7FD94D74}"/>
    <dgm:cxn modelId="{BF49939C-8378-490C-9CCF-AE8D96607A12}" type="presOf" srcId="{DC8B17CB-CAA0-47E9-809B-5A096D46BAB6}" destId="{0F3683BD-5A93-4EBB-B0E2-EDC14724132B}" srcOrd="0" destOrd="0" presId="urn:microsoft.com/office/officeart/2018/2/layout/IconLabelList"/>
    <dgm:cxn modelId="{CF8416B6-C786-4E50-8194-54F638BD1D0A}" srcId="{5DEAA457-ABF4-441E-A1A7-E8DEBAFC3F22}" destId="{A7D6686A-EDB8-4A1D-B280-29A03FB68CC7}" srcOrd="1" destOrd="0" parTransId="{5B135EB5-93B7-4365-8A85-9202AEF84BA7}" sibTransId="{DB93C5E8-BA11-46D0-B8DA-D6FB8B015526}"/>
    <dgm:cxn modelId="{8E64C0DA-2E50-4075-B852-099E3F53581D}" type="presOf" srcId="{A7D6686A-EDB8-4A1D-B280-29A03FB68CC7}" destId="{CEED0A1D-02F3-4430-AD9C-ED455382551E}" srcOrd="0" destOrd="0" presId="urn:microsoft.com/office/officeart/2018/2/layout/IconLabelList"/>
    <dgm:cxn modelId="{B1DB3F21-75A4-40EE-ABCE-4812B20A2E5F}" type="presParOf" srcId="{3FBDF705-393A-49D7-8C2C-625F6151885F}" destId="{3F1D565B-DBFD-4D77-B922-F85A1AA0578E}" srcOrd="0" destOrd="0" presId="urn:microsoft.com/office/officeart/2018/2/layout/IconLabelList"/>
    <dgm:cxn modelId="{4C3CE2D0-5702-4834-BF6E-EEB8D820AAE3}" type="presParOf" srcId="{3F1D565B-DBFD-4D77-B922-F85A1AA0578E}" destId="{FCC25867-3655-471A-9D01-51DA0518EAB5}" srcOrd="0" destOrd="0" presId="urn:microsoft.com/office/officeart/2018/2/layout/IconLabelList"/>
    <dgm:cxn modelId="{84AD8F45-F90A-4DCC-ACE2-8FE97E879F3F}" type="presParOf" srcId="{3F1D565B-DBFD-4D77-B922-F85A1AA0578E}" destId="{EEBED595-A008-43BD-B7CB-6E4231BFBC4D}" srcOrd="1" destOrd="0" presId="urn:microsoft.com/office/officeart/2018/2/layout/IconLabelList"/>
    <dgm:cxn modelId="{30F1C916-3017-4A61-82B6-322B05300161}" type="presParOf" srcId="{3F1D565B-DBFD-4D77-B922-F85A1AA0578E}" destId="{0F3683BD-5A93-4EBB-B0E2-EDC14724132B}" srcOrd="2" destOrd="0" presId="urn:microsoft.com/office/officeart/2018/2/layout/IconLabelList"/>
    <dgm:cxn modelId="{BE92F4E8-8BE2-4C8D-99B5-7A36F2A0E9F1}" type="presParOf" srcId="{3FBDF705-393A-49D7-8C2C-625F6151885F}" destId="{6611AE83-E09A-4465-9831-9CF2A2335C78}" srcOrd="1" destOrd="0" presId="urn:microsoft.com/office/officeart/2018/2/layout/IconLabelList"/>
    <dgm:cxn modelId="{49A2AF72-C00E-46B7-8016-7F510B13B65E}" type="presParOf" srcId="{3FBDF705-393A-49D7-8C2C-625F6151885F}" destId="{BB8EB469-EE80-44CA-8F49-EDBD10421D37}" srcOrd="2" destOrd="0" presId="urn:microsoft.com/office/officeart/2018/2/layout/IconLabelList"/>
    <dgm:cxn modelId="{9E6D7E9C-8D0E-40E6-95DF-996BCAAD0A61}" type="presParOf" srcId="{BB8EB469-EE80-44CA-8F49-EDBD10421D37}" destId="{DFFF4033-172F-434D-907F-1C80CF2C7F26}" srcOrd="0" destOrd="0" presId="urn:microsoft.com/office/officeart/2018/2/layout/IconLabelList"/>
    <dgm:cxn modelId="{01027678-CE95-4BDC-A3AE-C9C4B16AAB49}" type="presParOf" srcId="{BB8EB469-EE80-44CA-8F49-EDBD10421D37}" destId="{9265B00E-C8AE-4B8F-8215-D76E9258A725}" srcOrd="1" destOrd="0" presId="urn:microsoft.com/office/officeart/2018/2/layout/IconLabelList"/>
    <dgm:cxn modelId="{2AF41518-6D5B-4D35-A0E3-517339252218}" type="presParOf" srcId="{BB8EB469-EE80-44CA-8F49-EDBD10421D37}" destId="{CEED0A1D-02F3-4430-AD9C-ED455382551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DA6300-F1CB-483B-ACB6-08D3D3989B3D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8DF5EDD-A8B2-4CAF-8B23-E697B5EA9E81}">
      <dgm:prSet/>
      <dgm:spPr/>
      <dgm:t>
        <a:bodyPr/>
        <a:lstStyle/>
        <a:p>
          <a:r>
            <a:rPr lang="en-US"/>
            <a:t>Best Practices Include:</a:t>
          </a:r>
        </a:p>
      </dgm:t>
    </dgm:pt>
    <dgm:pt modelId="{6BE4FE8C-C313-41B0-843E-98287D027A2D}" type="parTrans" cxnId="{524764B4-9F3F-41DC-A578-1B0F0224DEE1}">
      <dgm:prSet/>
      <dgm:spPr/>
      <dgm:t>
        <a:bodyPr/>
        <a:lstStyle/>
        <a:p>
          <a:endParaRPr lang="en-US"/>
        </a:p>
      </dgm:t>
    </dgm:pt>
    <dgm:pt modelId="{1B6C1032-3D9F-48B7-9D4D-DE669F1DE95B}" type="sibTrans" cxnId="{524764B4-9F3F-41DC-A578-1B0F0224DEE1}">
      <dgm:prSet/>
      <dgm:spPr/>
      <dgm:t>
        <a:bodyPr/>
        <a:lstStyle/>
        <a:p>
          <a:endParaRPr lang="en-US"/>
        </a:p>
      </dgm:t>
    </dgm:pt>
    <dgm:pt modelId="{A0C52772-B4D1-4750-97C1-D71DB63B7C80}">
      <dgm:prSet/>
      <dgm:spPr/>
      <dgm:t>
        <a:bodyPr/>
        <a:lstStyle/>
        <a:p>
          <a:r>
            <a:rPr lang="en-US" baseline="0"/>
            <a:t>Strong authentication methods</a:t>
          </a:r>
          <a:endParaRPr lang="en-US"/>
        </a:p>
      </dgm:t>
    </dgm:pt>
    <dgm:pt modelId="{C932BEEF-86D9-4167-91A0-090C7BB2A298}" type="parTrans" cxnId="{08F77954-5663-4F4E-AF2B-F1922034BE8A}">
      <dgm:prSet/>
      <dgm:spPr/>
      <dgm:t>
        <a:bodyPr/>
        <a:lstStyle/>
        <a:p>
          <a:endParaRPr lang="en-US"/>
        </a:p>
      </dgm:t>
    </dgm:pt>
    <dgm:pt modelId="{2F6404C3-4933-4BBD-A305-BDBC27EB8CB5}" type="sibTrans" cxnId="{08F77954-5663-4F4E-AF2B-F1922034BE8A}">
      <dgm:prSet/>
      <dgm:spPr/>
      <dgm:t>
        <a:bodyPr/>
        <a:lstStyle/>
        <a:p>
          <a:endParaRPr lang="en-US"/>
        </a:p>
      </dgm:t>
    </dgm:pt>
    <dgm:pt modelId="{7459CE71-595B-434C-8AD3-D249052B647E}">
      <dgm:prSet/>
      <dgm:spPr/>
      <dgm:t>
        <a:bodyPr/>
        <a:lstStyle/>
        <a:p>
          <a:r>
            <a:rPr lang="en-US" baseline="0"/>
            <a:t>Role-Based Access Control</a:t>
          </a:r>
          <a:endParaRPr lang="en-US"/>
        </a:p>
      </dgm:t>
    </dgm:pt>
    <dgm:pt modelId="{FBA342B2-EAD6-4177-AF98-5DBDF423AE2B}" type="parTrans" cxnId="{228B7123-1F90-4FEF-A736-35F1D439AB89}">
      <dgm:prSet/>
      <dgm:spPr/>
      <dgm:t>
        <a:bodyPr/>
        <a:lstStyle/>
        <a:p>
          <a:endParaRPr lang="en-US"/>
        </a:p>
      </dgm:t>
    </dgm:pt>
    <dgm:pt modelId="{672DF16E-5D4C-435F-8360-744454E0AE27}" type="sibTrans" cxnId="{228B7123-1F90-4FEF-A736-35F1D439AB89}">
      <dgm:prSet/>
      <dgm:spPr/>
      <dgm:t>
        <a:bodyPr/>
        <a:lstStyle/>
        <a:p>
          <a:endParaRPr lang="en-US"/>
        </a:p>
      </dgm:t>
    </dgm:pt>
    <dgm:pt modelId="{E3889AE1-B7CF-4CA5-A8F6-16675E05C41B}">
      <dgm:prSet/>
      <dgm:spPr/>
      <dgm:t>
        <a:bodyPr/>
        <a:lstStyle/>
        <a:p>
          <a:r>
            <a:rPr lang="en-US" baseline="0"/>
            <a:t>Principle of least privilege</a:t>
          </a:r>
          <a:endParaRPr lang="en-US"/>
        </a:p>
      </dgm:t>
    </dgm:pt>
    <dgm:pt modelId="{87AADCB3-F493-4D7A-A7CF-9E37D1290C32}" type="parTrans" cxnId="{9114BE4B-6429-47E4-89A8-FDE5199E5AA3}">
      <dgm:prSet/>
      <dgm:spPr/>
      <dgm:t>
        <a:bodyPr/>
        <a:lstStyle/>
        <a:p>
          <a:endParaRPr lang="en-US"/>
        </a:p>
      </dgm:t>
    </dgm:pt>
    <dgm:pt modelId="{45CD7F1E-181F-4142-84C7-AA39239DFC84}" type="sibTrans" cxnId="{9114BE4B-6429-47E4-89A8-FDE5199E5AA3}">
      <dgm:prSet/>
      <dgm:spPr/>
      <dgm:t>
        <a:bodyPr/>
        <a:lstStyle/>
        <a:p>
          <a:endParaRPr lang="en-US"/>
        </a:p>
      </dgm:t>
    </dgm:pt>
    <dgm:pt modelId="{BF05B141-E202-4453-AE64-8D52FC61D0B7}">
      <dgm:prSet/>
      <dgm:spPr/>
      <dgm:t>
        <a:bodyPr/>
        <a:lstStyle/>
        <a:p>
          <a:r>
            <a:rPr lang="en-US" baseline="0"/>
            <a:t>Regular permission reviews</a:t>
          </a:r>
          <a:endParaRPr lang="en-US"/>
        </a:p>
      </dgm:t>
    </dgm:pt>
    <dgm:pt modelId="{75A7FFA3-C35D-4E98-81FE-2A3DD9FE7F1D}" type="parTrans" cxnId="{02176A81-979E-48A6-AAD2-152E2EFE2BB0}">
      <dgm:prSet/>
      <dgm:spPr/>
      <dgm:t>
        <a:bodyPr/>
        <a:lstStyle/>
        <a:p>
          <a:endParaRPr lang="en-US"/>
        </a:p>
      </dgm:t>
    </dgm:pt>
    <dgm:pt modelId="{76F8779C-F636-4C09-9446-FF7B173F5674}" type="sibTrans" cxnId="{02176A81-979E-48A6-AAD2-152E2EFE2BB0}">
      <dgm:prSet/>
      <dgm:spPr/>
      <dgm:t>
        <a:bodyPr/>
        <a:lstStyle/>
        <a:p>
          <a:endParaRPr lang="en-US"/>
        </a:p>
      </dgm:t>
    </dgm:pt>
    <dgm:pt modelId="{4CF39B81-1B4B-45C5-B321-2C9C84000D4C}">
      <dgm:prSet/>
      <dgm:spPr/>
      <dgm:t>
        <a:bodyPr/>
        <a:lstStyle/>
        <a:p>
          <a:r>
            <a:rPr lang="en-US"/>
            <a:t>These practices ensure only authorized developers can access or modify the codebase.</a:t>
          </a:r>
        </a:p>
      </dgm:t>
    </dgm:pt>
    <dgm:pt modelId="{671870D7-E5AB-4AFC-A283-C522C893646F}" type="parTrans" cxnId="{D7A85036-E830-482F-9BFD-39411F3F51A5}">
      <dgm:prSet/>
      <dgm:spPr/>
      <dgm:t>
        <a:bodyPr/>
        <a:lstStyle/>
        <a:p>
          <a:endParaRPr lang="en-US"/>
        </a:p>
      </dgm:t>
    </dgm:pt>
    <dgm:pt modelId="{25122799-F930-4C58-9DD3-48197CEF2351}" type="sibTrans" cxnId="{D7A85036-E830-482F-9BFD-39411F3F51A5}">
      <dgm:prSet/>
      <dgm:spPr/>
      <dgm:t>
        <a:bodyPr/>
        <a:lstStyle/>
        <a:p>
          <a:endParaRPr lang="en-US"/>
        </a:p>
      </dgm:t>
    </dgm:pt>
    <dgm:pt modelId="{A6B1802A-DD7E-4B52-BF94-6C1B3E54AF99}" type="pres">
      <dgm:prSet presAssocID="{4FDA6300-F1CB-483B-ACB6-08D3D3989B3D}" presName="Name0" presStyleCnt="0">
        <dgm:presLayoutVars>
          <dgm:dir/>
          <dgm:animLvl val="lvl"/>
          <dgm:resizeHandles val="exact"/>
        </dgm:presLayoutVars>
      </dgm:prSet>
      <dgm:spPr/>
    </dgm:pt>
    <dgm:pt modelId="{50F238E8-4CE2-4020-9907-B9B008B7A536}" type="pres">
      <dgm:prSet presAssocID="{4CF39B81-1B4B-45C5-B321-2C9C84000D4C}" presName="boxAndChildren" presStyleCnt="0"/>
      <dgm:spPr/>
    </dgm:pt>
    <dgm:pt modelId="{3B343DCB-8624-4170-873F-395E0AC1E8AC}" type="pres">
      <dgm:prSet presAssocID="{4CF39B81-1B4B-45C5-B321-2C9C84000D4C}" presName="parentTextBox" presStyleLbl="node1" presStyleIdx="0" presStyleCnt="2"/>
      <dgm:spPr/>
    </dgm:pt>
    <dgm:pt modelId="{21212BD0-5D34-4506-9011-F28864D8F351}" type="pres">
      <dgm:prSet presAssocID="{1B6C1032-3D9F-48B7-9D4D-DE669F1DE95B}" presName="sp" presStyleCnt="0"/>
      <dgm:spPr/>
    </dgm:pt>
    <dgm:pt modelId="{EDB050BF-B2F3-4130-893B-0E3F8767B0AF}" type="pres">
      <dgm:prSet presAssocID="{C8DF5EDD-A8B2-4CAF-8B23-E697B5EA9E81}" presName="arrowAndChildren" presStyleCnt="0"/>
      <dgm:spPr/>
    </dgm:pt>
    <dgm:pt modelId="{96E7A5D5-7126-4CF0-9F0A-D29C0F858838}" type="pres">
      <dgm:prSet presAssocID="{C8DF5EDD-A8B2-4CAF-8B23-E697B5EA9E81}" presName="parentTextArrow" presStyleLbl="node1" presStyleIdx="0" presStyleCnt="2"/>
      <dgm:spPr/>
    </dgm:pt>
    <dgm:pt modelId="{FFA20315-8140-4CEA-94CE-FBE9A0E31158}" type="pres">
      <dgm:prSet presAssocID="{C8DF5EDD-A8B2-4CAF-8B23-E697B5EA9E81}" presName="arrow" presStyleLbl="node1" presStyleIdx="1" presStyleCnt="2"/>
      <dgm:spPr/>
    </dgm:pt>
    <dgm:pt modelId="{F7A29438-99D5-4B29-ADDF-DE3C3A266A0C}" type="pres">
      <dgm:prSet presAssocID="{C8DF5EDD-A8B2-4CAF-8B23-E697B5EA9E81}" presName="descendantArrow" presStyleCnt="0"/>
      <dgm:spPr/>
    </dgm:pt>
    <dgm:pt modelId="{59BEE2A4-66F8-4C28-B609-FF4F8364E280}" type="pres">
      <dgm:prSet presAssocID="{A0C52772-B4D1-4750-97C1-D71DB63B7C80}" presName="childTextArrow" presStyleLbl="fgAccFollowNode1" presStyleIdx="0" presStyleCnt="4">
        <dgm:presLayoutVars>
          <dgm:bulletEnabled val="1"/>
        </dgm:presLayoutVars>
      </dgm:prSet>
      <dgm:spPr/>
    </dgm:pt>
    <dgm:pt modelId="{F12FD66A-9A25-46EC-AD2E-76566D052453}" type="pres">
      <dgm:prSet presAssocID="{7459CE71-595B-434C-8AD3-D249052B647E}" presName="childTextArrow" presStyleLbl="fgAccFollowNode1" presStyleIdx="1" presStyleCnt="4">
        <dgm:presLayoutVars>
          <dgm:bulletEnabled val="1"/>
        </dgm:presLayoutVars>
      </dgm:prSet>
      <dgm:spPr/>
    </dgm:pt>
    <dgm:pt modelId="{5DF5D39E-B4CE-4822-8B08-5F5CAF13C214}" type="pres">
      <dgm:prSet presAssocID="{E3889AE1-B7CF-4CA5-A8F6-16675E05C41B}" presName="childTextArrow" presStyleLbl="fgAccFollowNode1" presStyleIdx="2" presStyleCnt="4">
        <dgm:presLayoutVars>
          <dgm:bulletEnabled val="1"/>
        </dgm:presLayoutVars>
      </dgm:prSet>
      <dgm:spPr/>
    </dgm:pt>
    <dgm:pt modelId="{E9C06A57-7C39-4CDA-88FC-DE79255DB7EE}" type="pres">
      <dgm:prSet presAssocID="{BF05B141-E202-4453-AE64-8D52FC61D0B7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BD83311D-F620-4696-B52B-0943A586924A}" type="presOf" srcId="{4FDA6300-F1CB-483B-ACB6-08D3D3989B3D}" destId="{A6B1802A-DD7E-4B52-BF94-6C1B3E54AF99}" srcOrd="0" destOrd="0" presId="urn:microsoft.com/office/officeart/2005/8/layout/process4"/>
    <dgm:cxn modelId="{228B7123-1F90-4FEF-A736-35F1D439AB89}" srcId="{C8DF5EDD-A8B2-4CAF-8B23-E697B5EA9E81}" destId="{7459CE71-595B-434C-8AD3-D249052B647E}" srcOrd="1" destOrd="0" parTransId="{FBA342B2-EAD6-4177-AF98-5DBDF423AE2B}" sibTransId="{672DF16E-5D4C-435F-8360-744454E0AE27}"/>
    <dgm:cxn modelId="{595FF72A-24D6-431D-8308-A6B5A13FEBDD}" type="presOf" srcId="{C8DF5EDD-A8B2-4CAF-8B23-E697B5EA9E81}" destId="{FFA20315-8140-4CEA-94CE-FBE9A0E31158}" srcOrd="1" destOrd="0" presId="urn:microsoft.com/office/officeart/2005/8/layout/process4"/>
    <dgm:cxn modelId="{998AA32E-368C-44EC-9A0A-3D0AAC6D511E}" type="presOf" srcId="{A0C52772-B4D1-4750-97C1-D71DB63B7C80}" destId="{59BEE2A4-66F8-4C28-B609-FF4F8364E280}" srcOrd="0" destOrd="0" presId="urn:microsoft.com/office/officeart/2005/8/layout/process4"/>
    <dgm:cxn modelId="{D7A85036-E830-482F-9BFD-39411F3F51A5}" srcId="{4FDA6300-F1CB-483B-ACB6-08D3D3989B3D}" destId="{4CF39B81-1B4B-45C5-B321-2C9C84000D4C}" srcOrd="1" destOrd="0" parTransId="{671870D7-E5AB-4AFC-A283-C522C893646F}" sibTransId="{25122799-F930-4C58-9DD3-48197CEF2351}"/>
    <dgm:cxn modelId="{3F729D5F-6F6B-451D-8D66-0F4D55B7CA4D}" type="presOf" srcId="{7459CE71-595B-434C-8AD3-D249052B647E}" destId="{F12FD66A-9A25-46EC-AD2E-76566D052453}" srcOrd="0" destOrd="0" presId="urn:microsoft.com/office/officeart/2005/8/layout/process4"/>
    <dgm:cxn modelId="{9114BE4B-6429-47E4-89A8-FDE5199E5AA3}" srcId="{C8DF5EDD-A8B2-4CAF-8B23-E697B5EA9E81}" destId="{E3889AE1-B7CF-4CA5-A8F6-16675E05C41B}" srcOrd="2" destOrd="0" parTransId="{87AADCB3-F493-4D7A-A7CF-9E37D1290C32}" sibTransId="{45CD7F1E-181F-4142-84C7-AA39239DFC84}"/>
    <dgm:cxn modelId="{929E0850-2B48-4191-956A-58FF72F186EC}" type="presOf" srcId="{E3889AE1-B7CF-4CA5-A8F6-16675E05C41B}" destId="{5DF5D39E-B4CE-4822-8B08-5F5CAF13C214}" srcOrd="0" destOrd="0" presId="urn:microsoft.com/office/officeart/2005/8/layout/process4"/>
    <dgm:cxn modelId="{08F77954-5663-4F4E-AF2B-F1922034BE8A}" srcId="{C8DF5EDD-A8B2-4CAF-8B23-E697B5EA9E81}" destId="{A0C52772-B4D1-4750-97C1-D71DB63B7C80}" srcOrd="0" destOrd="0" parTransId="{C932BEEF-86D9-4167-91A0-090C7BB2A298}" sibTransId="{2F6404C3-4933-4BBD-A305-BDBC27EB8CB5}"/>
    <dgm:cxn modelId="{3360257A-060C-4669-A6E2-B90F8439B05C}" type="presOf" srcId="{4CF39B81-1B4B-45C5-B321-2C9C84000D4C}" destId="{3B343DCB-8624-4170-873F-395E0AC1E8AC}" srcOrd="0" destOrd="0" presId="urn:microsoft.com/office/officeart/2005/8/layout/process4"/>
    <dgm:cxn modelId="{02176A81-979E-48A6-AAD2-152E2EFE2BB0}" srcId="{C8DF5EDD-A8B2-4CAF-8B23-E697B5EA9E81}" destId="{BF05B141-E202-4453-AE64-8D52FC61D0B7}" srcOrd="3" destOrd="0" parTransId="{75A7FFA3-C35D-4E98-81FE-2A3DD9FE7F1D}" sibTransId="{76F8779C-F636-4C09-9446-FF7B173F5674}"/>
    <dgm:cxn modelId="{524764B4-9F3F-41DC-A578-1B0F0224DEE1}" srcId="{4FDA6300-F1CB-483B-ACB6-08D3D3989B3D}" destId="{C8DF5EDD-A8B2-4CAF-8B23-E697B5EA9E81}" srcOrd="0" destOrd="0" parTransId="{6BE4FE8C-C313-41B0-843E-98287D027A2D}" sibTransId="{1B6C1032-3D9F-48B7-9D4D-DE669F1DE95B}"/>
    <dgm:cxn modelId="{FCB834B8-2FF1-474C-AE62-90DD205CA019}" type="presOf" srcId="{C8DF5EDD-A8B2-4CAF-8B23-E697B5EA9E81}" destId="{96E7A5D5-7126-4CF0-9F0A-D29C0F858838}" srcOrd="0" destOrd="0" presId="urn:microsoft.com/office/officeart/2005/8/layout/process4"/>
    <dgm:cxn modelId="{A4ABD1CA-F563-4B6E-8D3D-34D485AA043C}" type="presOf" srcId="{BF05B141-E202-4453-AE64-8D52FC61D0B7}" destId="{E9C06A57-7C39-4CDA-88FC-DE79255DB7EE}" srcOrd="0" destOrd="0" presId="urn:microsoft.com/office/officeart/2005/8/layout/process4"/>
    <dgm:cxn modelId="{966A222E-A696-45F9-845D-C4A4D75F87CA}" type="presParOf" srcId="{A6B1802A-DD7E-4B52-BF94-6C1B3E54AF99}" destId="{50F238E8-4CE2-4020-9907-B9B008B7A536}" srcOrd="0" destOrd="0" presId="urn:microsoft.com/office/officeart/2005/8/layout/process4"/>
    <dgm:cxn modelId="{86592161-6C02-4BE1-9FDE-BB2F25257000}" type="presParOf" srcId="{50F238E8-4CE2-4020-9907-B9B008B7A536}" destId="{3B343DCB-8624-4170-873F-395E0AC1E8AC}" srcOrd="0" destOrd="0" presId="urn:microsoft.com/office/officeart/2005/8/layout/process4"/>
    <dgm:cxn modelId="{0D6DFB5C-9595-492B-B2B8-011F780B649E}" type="presParOf" srcId="{A6B1802A-DD7E-4B52-BF94-6C1B3E54AF99}" destId="{21212BD0-5D34-4506-9011-F28864D8F351}" srcOrd="1" destOrd="0" presId="urn:microsoft.com/office/officeart/2005/8/layout/process4"/>
    <dgm:cxn modelId="{D647AE04-C2A4-486A-A929-6EDDDA79BB7A}" type="presParOf" srcId="{A6B1802A-DD7E-4B52-BF94-6C1B3E54AF99}" destId="{EDB050BF-B2F3-4130-893B-0E3F8767B0AF}" srcOrd="2" destOrd="0" presId="urn:microsoft.com/office/officeart/2005/8/layout/process4"/>
    <dgm:cxn modelId="{4A88E79C-E230-46CA-B62A-A48988D0E70B}" type="presParOf" srcId="{EDB050BF-B2F3-4130-893B-0E3F8767B0AF}" destId="{96E7A5D5-7126-4CF0-9F0A-D29C0F858838}" srcOrd="0" destOrd="0" presId="urn:microsoft.com/office/officeart/2005/8/layout/process4"/>
    <dgm:cxn modelId="{556307B2-C4D2-45FF-A76D-849D4C833DD7}" type="presParOf" srcId="{EDB050BF-B2F3-4130-893B-0E3F8767B0AF}" destId="{FFA20315-8140-4CEA-94CE-FBE9A0E31158}" srcOrd="1" destOrd="0" presId="urn:microsoft.com/office/officeart/2005/8/layout/process4"/>
    <dgm:cxn modelId="{EAA5D330-E4EC-411E-8A87-FA640F0641B7}" type="presParOf" srcId="{EDB050BF-B2F3-4130-893B-0E3F8767B0AF}" destId="{F7A29438-99D5-4B29-ADDF-DE3C3A266A0C}" srcOrd="2" destOrd="0" presId="urn:microsoft.com/office/officeart/2005/8/layout/process4"/>
    <dgm:cxn modelId="{2E380E72-F129-4FB6-9B09-9E31515C73B4}" type="presParOf" srcId="{F7A29438-99D5-4B29-ADDF-DE3C3A266A0C}" destId="{59BEE2A4-66F8-4C28-B609-FF4F8364E280}" srcOrd="0" destOrd="0" presId="urn:microsoft.com/office/officeart/2005/8/layout/process4"/>
    <dgm:cxn modelId="{8DE9AF28-0A8F-4FB6-8279-681D9127FD30}" type="presParOf" srcId="{F7A29438-99D5-4B29-ADDF-DE3C3A266A0C}" destId="{F12FD66A-9A25-46EC-AD2E-76566D052453}" srcOrd="1" destOrd="0" presId="urn:microsoft.com/office/officeart/2005/8/layout/process4"/>
    <dgm:cxn modelId="{189C0FEF-07E0-4387-AD21-31F77ABEC469}" type="presParOf" srcId="{F7A29438-99D5-4B29-ADDF-DE3C3A266A0C}" destId="{5DF5D39E-B4CE-4822-8B08-5F5CAF13C214}" srcOrd="2" destOrd="0" presId="urn:microsoft.com/office/officeart/2005/8/layout/process4"/>
    <dgm:cxn modelId="{29A19535-6446-4020-BC37-B6E4E167B37D}" type="presParOf" srcId="{F7A29438-99D5-4B29-ADDF-DE3C3A266A0C}" destId="{E9C06A57-7C39-4CDA-88FC-DE79255DB7EE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25867-3655-471A-9D01-51DA0518EAB5}">
      <dsp:nvSpPr>
        <dsp:cNvPr id="0" name=""/>
        <dsp:cNvSpPr/>
      </dsp:nvSpPr>
      <dsp:spPr>
        <a:xfrm>
          <a:off x="790390" y="1189230"/>
          <a:ext cx="1199812" cy="1199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683BD-5A93-4EBB-B0E2-EDC14724132B}">
      <dsp:nvSpPr>
        <dsp:cNvPr id="0" name=""/>
        <dsp:cNvSpPr/>
      </dsp:nvSpPr>
      <dsp:spPr>
        <a:xfrm>
          <a:off x="57171" y="2727857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Source code security refers to protecting the integrity and confidentiality of software code stored in repositories such as GitHub or GitLab</a:t>
          </a:r>
        </a:p>
      </dsp:txBody>
      <dsp:txXfrm>
        <a:off x="57171" y="2727857"/>
        <a:ext cx="2666250" cy="720000"/>
      </dsp:txXfrm>
    </dsp:sp>
    <dsp:sp modelId="{DFFF4033-172F-434D-907F-1C80CF2C7F26}">
      <dsp:nvSpPr>
        <dsp:cNvPr id="0" name=""/>
        <dsp:cNvSpPr/>
      </dsp:nvSpPr>
      <dsp:spPr>
        <a:xfrm>
          <a:off x="3923234" y="1189230"/>
          <a:ext cx="1199812" cy="1199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ED0A1D-02F3-4430-AD9C-ED455382551E}">
      <dsp:nvSpPr>
        <dsp:cNvPr id="0" name=""/>
        <dsp:cNvSpPr/>
      </dsp:nvSpPr>
      <dsp:spPr>
        <a:xfrm>
          <a:off x="3190015" y="2727857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critical part of software supply chain as security breaches can result in major financial damage</a:t>
          </a:r>
        </a:p>
      </dsp:txBody>
      <dsp:txXfrm>
        <a:off x="3190015" y="2727857"/>
        <a:ext cx="266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43DCB-8624-4170-873F-395E0AC1E8AC}">
      <dsp:nvSpPr>
        <dsp:cNvPr id="0" name=""/>
        <dsp:cNvSpPr/>
      </dsp:nvSpPr>
      <dsp:spPr>
        <a:xfrm>
          <a:off x="0" y="2798728"/>
          <a:ext cx="5913437" cy="183626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These practices ensure only authorized developers can access or modify the codebase.</a:t>
          </a:r>
        </a:p>
      </dsp:txBody>
      <dsp:txXfrm>
        <a:off x="0" y="2798728"/>
        <a:ext cx="5913437" cy="1836268"/>
      </dsp:txXfrm>
    </dsp:sp>
    <dsp:sp modelId="{FFA20315-8140-4CEA-94CE-FBE9A0E31158}">
      <dsp:nvSpPr>
        <dsp:cNvPr id="0" name=""/>
        <dsp:cNvSpPr/>
      </dsp:nvSpPr>
      <dsp:spPr>
        <a:xfrm rot="10800000">
          <a:off x="0" y="2090"/>
          <a:ext cx="5913437" cy="2824181"/>
        </a:xfrm>
        <a:prstGeom prst="upArrowCallou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Best Practices Include:</a:t>
          </a:r>
        </a:p>
      </dsp:txBody>
      <dsp:txXfrm rot="-10800000">
        <a:off x="0" y="2090"/>
        <a:ext cx="5913437" cy="991287"/>
      </dsp:txXfrm>
    </dsp:sp>
    <dsp:sp modelId="{59BEE2A4-66F8-4C28-B609-FF4F8364E280}">
      <dsp:nvSpPr>
        <dsp:cNvPr id="0" name=""/>
        <dsp:cNvSpPr/>
      </dsp:nvSpPr>
      <dsp:spPr>
        <a:xfrm>
          <a:off x="0" y="993378"/>
          <a:ext cx="1478359" cy="8444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/>
            <a:t>Strong authentication methods</a:t>
          </a:r>
          <a:endParaRPr lang="en-US" sz="1600" kern="1200"/>
        </a:p>
      </dsp:txBody>
      <dsp:txXfrm>
        <a:off x="0" y="993378"/>
        <a:ext cx="1478359" cy="844430"/>
      </dsp:txXfrm>
    </dsp:sp>
    <dsp:sp modelId="{F12FD66A-9A25-46EC-AD2E-76566D052453}">
      <dsp:nvSpPr>
        <dsp:cNvPr id="0" name=""/>
        <dsp:cNvSpPr/>
      </dsp:nvSpPr>
      <dsp:spPr>
        <a:xfrm>
          <a:off x="1478359" y="993378"/>
          <a:ext cx="1478359" cy="844430"/>
        </a:xfrm>
        <a:prstGeom prst="rect">
          <a:avLst/>
        </a:prstGeom>
        <a:solidFill>
          <a:schemeClr val="accent2">
            <a:tint val="40000"/>
            <a:alpha val="90000"/>
            <a:hueOff val="-1397606"/>
            <a:satOff val="5601"/>
            <a:lumOff val="83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1397606"/>
              <a:satOff val="5601"/>
              <a:lumOff val="8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/>
            <a:t>Role-Based Access Control</a:t>
          </a:r>
          <a:endParaRPr lang="en-US" sz="1600" kern="1200"/>
        </a:p>
      </dsp:txBody>
      <dsp:txXfrm>
        <a:off x="1478359" y="993378"/>
        <a:ext cx="1478359" cy="844430"/>
      </dsp:txXfrm>
    </dsp:sp>
    <dsp:sp modelId="{5DF5D39E-B4CE-4822-8B08-5F5CAF13C214}">
      <dsp:nvSpPr>
        <dsp:cNvPr id="0" name=""/>
        <dsp:cNvSpPr/>
      </dsp:nvSpPr>
      <dsp:spPr>
        <a:xfrm>
          <a:off x="2956718" y="993378"/>
          <a:ext cx="1478359" cy="844430"/>
        </a:xfrm>
        <a:prstGeom prst="rect">
          <a:avLst/>
        </a:prstGeom>
        <a:solidFill>
          <a:schemeClr val="accent2">
            <a:tint val="40000"/>
            <a:alpha val="90000"/>
            <a:hueOff val="-2795213"/>
            <a:satOff val="11203"/>
            <a:lumOff val="166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2795213"/>
              <a:satOff val="11203"/>
              <a:lumOff val="166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/>
            <a:t>Principle of least privilege</a:t>
          </a:r>
          <a:endParaRPr lang="en-US" sz="1600" kern="1200"/>
        </a:p>
      </dsp:txBody>
      <dsp:txXfrm>
        <a:off x="2956718" y="993378"/>
        <a:ext cx="1478359" cy="844430"/>
      </dsp:txXfrm>
    </dsp:sp>
    <dsp:sp modelId="{E9C06A57-7C39-4CDA-88FC-DE79255DB7EE}">
      <dsp:nvSpPr>
        <dsp:cNvPr id="0" name=""/>
        <dsp:cNvSpPr/>
      </dsp:nvSpPr>
      <dsp:spPr>
        <a:xfrm>
          <a:off x="4435077" y="993378"/>
          <a:ext cx="1478359" cy="844430"/>
        </a:xfrm>
        <a:prstGeom prst="rect">
          <a:avLst/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baseline="0"/>
            <a:t>Regular permission reviews</a:t>
          </a:r>
          <a:endParaRPr lang="en-US" sz="1600" kern="1200"/>
        </a:p>
      </dsp:txBody>
      <dsp:txXfrm>
        <a:off x="4435077" y="993378"/>
        <a:ext cx="1478359" cy="844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63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105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34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51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86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28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2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252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17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1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79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26191-37AD-477C-BE87-C2E73416501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B35D9BA-432F-4F94-BB0F-553C0B9B5DD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6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hyperlink" Target="https://stackoverflow.blog/2022/01/24/securing-the-data-in-your-online-code-repository-is-a-shared-responsibility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nyk.io/articles/securing-source-code-repositor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2E92EB-98BB-CFD2-BB9C-AA5CC13D8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en-US" sz="3400"/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0EFE5-0B97-179B-640B-79B39CA7D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>
            <a:normAutofit/>
          </a:bodyPr>
          <a:lstStyle/>
          <a:p>
            <a:r>
              <a:rPr lang="en-US" sz="1600"/>
              <a:t>Zachary Anderson</a:t>
            </a:r>
          </a:p>
          <a:p>
            <a:r>
              <a:rPr lang="en-US" sz="1600"/>
              <a:t>Mod11.2</a:t>
            </a:r>
          </a:p>
          <a:p>
            <a:r>
              <a:rPr lang="en-US" sz="1600"/>
              <a:t>3/8/26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D9797F82-4BA8-9EB3-7FD5-024631A17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33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29EA2-7C5D-6F02-B77A-26E19DD2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What is Source Code Security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5564E2-A81D-76F5-791D-E407826CB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578983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930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A336-1FF4-C37C-7027-129BE310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in Shared Source Code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8A92-D072-FED5-0F66-B8E92AAB4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Unauthorized access to code</a:t>
            </a:r>
          </a:p>
          <a:p>
            <a:r>
              <a:rPr lang="en-US" dirty="0"/>
              <a:t>Injection of malicious code</a:t>
            </a:r>
          </a:p>
          <a:p>
            <a:r>
              <a:rPr lang="en-US" dirty="0"/>
              <a:t>Exposure of sensitive information</a:t>
            </a:r>
          </a:p>
          <a:p>
            <a:r>
              <a:rPr lang="en-US" dirty="0"/>
              <a:t>Accidental publishing of private repositories</a:t>
            </a:r>
          </a:p>
        </p:txBody>
      </p:sp>
    </p:spTree>
    <p:extLst>
      <p:ext uri="{BB962C8B-B14F-4D97-AF65-F5344CB8AC3E}">
        <p14:creationId xmlns:p14="http://schemas.microsoft.com/office/powerpoint/2010/main" val="119459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B6FE8-CCCC-758B-9449-1962B788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Access Control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C41F12-7630-9E16-A0BB-DDAD226E3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784475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673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4047-77D6-5B5B-3C88-723F1597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72CF1-97CE-CA9A-7C84-DCA95C939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Repositories should ensure that all code changes are authentic</a:t>
            </a:r>
          </a:p>
          <a:p>
            <a:r>
              <a:rPr lang="en-US" dirty="0"/>
              <a:t>Recommended controls:</a:t>
            </a:r>
          </a:p>
          <a:p>
            <a:pPr lvl="1"/>
            <a:r>
              <a:rPr lang="en-US" dirty="0"/>
              <a:t>Require cryptographic commit signing </a:t>
            </a:r>
          </a:p>
          <a:p>
            <a:pPr lvl="1"/>
            <a:r>
              <a:rPr lang="en-US" dirty="0"/>
              <a:t>Track who made each change</a:t>
            </a:r>
          </a:p>
        </p:txBody>
      </p:sp>
    </p:spTree>
    <p:extLst>
      <p:ext uri="{BB962C8B-B14F-4D97-AF65-F5344CB8AC3E}">
        <p14:creationId xmlns:p14="http://schemas.microsoft.com/office/powerpoint/2010/main" val="398174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EF47-1D56-E485-F192-7A414AF2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429C-B2E2-29CC-4D44-49DEBC914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Sensitive Data should never be stored directly in source code</a:t>
            </a:r>
          </a:p>
          <a:p>
            <a:r>
              <a:rPr lang="en-US" dirty="0"/>
              <a:t>Use secure secrets management tools</a:t>
            </a:r>
          </a:p>
          <a:p>
            <a:r>
              <a:rPr lang="en-US" dirty="0"/>
              <a:t>Store API keys and passwords outside repositories</a:t>
            </a:r>
          </a:p>
          <a:p>
            <a:r>
              <a:rPr lang="en-US" dirty="0"/>
              <a:t>Monitor repositories for leaked secrets</a:t>
            </a:r>
          </a:p>
        </p:txBody>
      </p:sp>
    </p:spTree>
    <p:extLst>
      <p:ext uri="{BB962C8B-B14F-4D97-AF65-F5344CB8AC3E}">
        <p14:creationId xmlns:p14="http://schemas.microsoft.com/office/powerpoint/2010/main" val="310555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8D05D-C465-0907-B483-75CC75C07C3C}"/>
              </a:ext>
            </a:extLst>
          </p:cNvPr>
          <p:cNvSpPr txBox="1"/>
          <p:nvPr/>
        </p:nvSpPr>
        <p:spPr>
          <a:xfrm>
            <a:off x="1451581" y="2015732"/>
            <a:ext cx="4172212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This diagram shows the basic Git workflow where developers commit code to a local repository and use push and pull actions to synchronize changes with a shared remote Git repository.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E4630D-5761-5AF7-2837-857CC2225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4411" y="2069904"/>
            <a:ext cx="4960442" cy="21321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29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B339-DAE2-10F3-DD86-6778E96C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921F7-0A4E-F87D-2EB7-DB582C905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pPr lvl="1"/>
            <a:r>
              <a:rPr lang="en-US" dirty="0"/>
              <a:t>Implement strong access controls</a:t>
            </a:r>
          </a:p>
          <a:p>
            <a:pPr lvl="1"/>
            <a:r>
              <a:rPr lang="en-US" dirty="0"/>
              <a:t>Verify code changes with commit signing</a:t>
            </a:r>
          </a:p>
          <a:p>
            <a:pPr lvl="1"/>
            <a:r>
              <a:rPr lang="en-US" dirty="0"/>
              <a:t>Manage secrets securely</a:t>
            </a:r>
          </a:p>
          <a:p>
            <a:pPr lvl="1"/>
            <a:r>
              <a:rPr lang="en-US" dirty="0"/>
              <a:t>Monitor repositories for vulnerabilities</a:t>
            </a:r>
          </a:p>
          <a:p>
            <a:pPr lvl="1"/>
            <a:r>
              <a:rPr lang="en-US" dirty="0"/>
              <a:t>Use automated security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AEFC-74B6-B732-7AFD-2B73C228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0CB74-B74A-D9EF-683E-6C04400C5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Ciesielski, J. (2022, January 24). </a:t>
            </a:r>
            <a:r>
              <a:rPr lang="en-US" i="1" dirty="0"/>
              <a:t>Securing the data in your online code repository is a shared responsibility.</a:t>
            </a:r>
            <a:r>
              <a:rPr lang="en-US" dirty="0"/>
              <a:t> Stack Overflow Blog.</a:t>
            </a:r>
            <a:br>
              <a:rPr lang="en-US" dirty="0"/>
            </a:br>
            <a:r>
              <a:rPr lang="en-US" dirty="0">
                <a:hlinkClick r:id="rId2"/>
              </a:rPr>
              <a:t>https://stackoverflow.blog/2022/01/24/securing-the-data-in-your-online-code-repository-is-a-shared-responsibility/</a:t>
            </a:r>
            <a:endParaRPr lang="en-US" dirty="0"/>
          </a:p>
          <a:p>
            <a:r>
              <a:rPr lang="en-US" dirty="0"/>
              <a:t>OpenAI. (2026). </a:t>
            </a:r>
            <a:r>
              <a:rPr lang="en-US" i="1" dirty="0"/>
              <a:t>ChatGPT</a:t>
            </a:r>
            <a:r>
              <a:rPr lang="en-US" dirty="0"/>
              <a:t> (GPT-5.3) [Large language model]. </a:t>
            </a:r>
            <a:r>
              <a:rPr lang="en-US" dirty="0">
                <a:hlinkClick r:id="rId3"/>
              </a:rPr>
              <a:t>https://chat.openai.com</a:t>
            </a:r>
            <a:endParaRPr lang="en-US" dirty="0"/>
          </a:p>
          <a:p>
            <a:r>
              <a:rPr lang="en-US" dirty="0"/>
              <a:t>Tal, L. (2024). </a:t>
            </a:r>
            <a:r>
              <a:rPr lang="en-US" i="1" dirty="0"/>
              <a:t>Securing source code in repositories: How to get started.</a:t>
            </a:r>
            <a:r>
              <a:rPr lang="en-US" dirty="0"/>
              <a:t> </a:t>
            </a:r>
            <a:r>
              <a:rPr lang="en-US" dirty="0" err="1"/>
              <a:t>Snyk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4"/>
              </a:rPr>
              <a:t>https://snyk.io/articles/securing-source-code-repositories/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1667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</TotalTime>
  <Words>307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Security Controls in Shared Source Code Repositories</vt:lpstr>
      <vt:lpstr>What is Source Code Security</vt:lpstr>
      <vt:lpstr>Risks in Shared Source Code Repositories</vt:lpstr>
      <vt:lpstr>Access Control</vt:lpstr>
      <vt:lpstr>Code Integrity</vt:lpstr>
      <vt:lpstr>Secrets Management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Anderson</dc:creator>
  <cp:lastModifiedBy>Zachary Anderson</cp:lastModifiedBy>
  <cp:revision>2</cp:revision>
  <dcterms:created xsi:type="dcterms:W3CDTF">2026-03-08T23:36:59Z</dcterms:created>
  <dcterms:modified xsi:type="dcterms:W3CDTF">2026-03-08T23:57:31Z</dcterms:modified>
</cp:coreProperties>
</file>